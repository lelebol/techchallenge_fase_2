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695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pt-BR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1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2"/>
          <p:cNvSpPr/>
          <p:nvPr/>
        </p:nvSpPr>
        <p:spPr>
          <a:xfrm>
            <a:off x="9784080" y="-1234440"/>
            <a:ext cx="3840480" cy="3840480"/>
          </a:xfrm>
          <a:prstGeom prst="ellipse">
            <a:avLst/>
          </a:prstGeom>
          <a:solidFill>
            <a:srgbClr val="C49A3A">
              <a:alpha val="13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ov3"/>
          <p:cNvSpPr/>
          <p:nvPr/>
        </p:nvSpPr>
        <p:spPr>
          <a:xfrm>
            <a:off x="10698480" y="4480560"/>
            <a:ext cx="3291840" cy="3291840"/>
          </a:xfrm>
          <a:prstGeom prst="ellipse">
            <a:avLst/>
          </a:prstGeom>
          <a:solidFill>
            <a:srgbClr val="A24A54">
              <a:alpha val="22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868680" y="123444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500" b="1" spc="300">
                <a:solidFill>
                  <a:srgbClr val="C49A3A"/>
                </a:solidFill>
                <a:latin typeface="Calibri"/>
                <a:cs typeface="Calibri"/>
              </a:rPr>
              <a:t>TECH CHALLENGE  ·  FASE 2</a:t>
            </a:r>
          </a:p>
        </p:txBody>
      </p:sp>
      <p:sp>
        <p:nvSpPr>
          <p:cNvPr id="5" name="tb5"/>
          <p:cNvSpPr>
            <a:spLocks noGrp="1"/>
          </p:cNvSpPr>
          <p:nvPr/>
        </p:nvSpPr>
        <p:spPr>
          <a:xfrm>
            <a:off x="822960" y="1783080"/>
            <a:ext cx="10607040" cy="17373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pt-BR" sz="4000" b="1">
                <a:solidFill>
                  <a:srgbClr val="FFFFFF"/>
                </a:solidFill>
                <a:latin typeface="Cambria"/>
                <a:cs typeface="Cambria"/>
              </a:rPr>
              <a:t>Classificação da Qualidade de Vinhos</a:t>
            </a:r>
          </a:p>
        </p:txBody>
      </p:sp>
      <p:sp>
        <p:nvSpPr>
          <p:cNvPr id="6" name="tb6"/>
          <p:cNvSpPr>
            <a:spLocks noGrp="1"/>
          </p:cNvSpPr>
          <p:nvPr/>
        </p:nvSpPr>
        <p:spPr>
          <a:xfrm>
            <a:off x="868680" y="3401568"/>
            <a:ext cx="1042416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100">
                <a:solidFill>
                  <a:srgbClr val="E7C9C2"/>
                </a:solidFill>
                <a:latin typeface="Calibri"/>
                <a:cs typeface="Calibri"/>
              </a:rPr>
              <a:t>Pipeline completo de análise e modelagem</a:t>
            </a:r>
          </a:p>
        </p:txBody>
      </p:sp>
      <p:sp>
        <p:nvSpPr>
          <p:cNvPr id="7" name="tb7"/>
          <p:cNvSpPr>
            <a:spLocks noGrp="1"/>
          </p:cNvSpPr>
          <p:nvPr/>
        </p:nvSpPr>
        <p:spPr>
          <a:xfrm>
            <a:off x="868680" y="4041648"/>
            <a:ext cx="10424160" cy="685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BR" sz="1500" i="1">
                <a:solidFill>
                  <a:srgbClr val="D8C7B8"/>
                </a:solidFill>
                <a:latin typeface="Calibri"/>
                <a:cs typeface="Calibri"/>
              </a:rPr>
              <a:t>Prever, a partir de exames de laboratório, se um vinho é de alta qualidade</a:t>
            </a:r>
          </a:p>
        </p:txBody>
      </p:sp>
      <p:sp>
        <p:nvSpPr>
          <p:cNvPr id="8" name="tb8"/>
          <p:cNvSpPr>
            <a:spLocks noGrp="1"/>
          </p:cNvSpPr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Pós-graduação FIAP · POSTECH</a:t>
            </a:r>
          </a:p>
          <a:p>
            <a:pPr algn="l">
              <a:buNone/>
            </a:pPr>
            <a:r>
              <a:rPr lang="pt-BR" sz="1200">
                <a:solidFill>
                  <a:srgbClr val="D8C7B8"/>
                </a:solidFill>
                <a:latin typeface="Calibri"/>
                <a:cs typeface="Calibri"/>
              </a:rPr>
              <a:t>Wine Quality Dataset · 1.143 amostras · 11 variáveis físico-químicas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O contexto: do laboratório à taça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1417320"/>
            <a:ext cx="6400800" cy="3566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  <a:buNone/>
            </a:pPr>
            <a:r>
              <a:rPr lang="pt-BR" sz="1650">
                <a:solidFill>
                  <a:srgbClr val="2B2B2B"/>
                </a:solidFill>
                <a:latin typeface="Calibri"/>
                <a:cs typeface="Calibri"/>
              </a:rPr>
              <a:t>Cada vinho foi </a:t>
            </a:r>
            <a:r>
              <a:rPr lang="pt-BR" sz="1650" b="1">
                <a:solidFill>
                  <a:srgbClr val="8C2F39"/>
                </a:solidFill>
                <a:latin typeface="Calibri"/>
                <a:cs typeface="Calibri"/>
              </a:rPr>
              <a:t>analisado em laboratório</a:t>
            </a:r>
            <a:r>
              <a:rPr lang="pt-BR" sz="1650">
                <a:solidFill>
                  <a:srgbClr val="2B2B2B"/>
                </a:solidFill>
                <a:latin typeface="Calibri"/>
                <a:cs typeface="Calibri"/>
              </a:rPr>
              <a:t> e </a:t>
            </a:r>
            <a:r>
              <a:rPr lang="pt-BR" sz="1650" b="1">
                <a:solidFill>
                  <a:srgbClr val="8C2F39"/>
                </a:solidFill>
                <a:latin typeface="Calibri"/>
                <a:cs typeface="Calibri"/>
              </a:rPr>
              <a:t>provado por especialistas</a:t>
            </a:r>
            <a:r>
              <a:rPr lang="pt-BR" sz="1650">
                <a:solidFill>
                  <a:srgbClr val="2B2B2B"/>
                </a:solidFill>
                <a:latin typeface="Calibri"/>
                <a:cs typeface="Calibri"/>
              </a:rPr>
              <a:t>, que deram uma nota de 0 a 10.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400">
                <a:solidFill>
                  <a:srgbClr val="6E6E6E"/>
                </a:solidFill>
                <a:latin typeface="Calibri"/>
                <a:cs typeface="Calibri"/>
              </a:rPr>
              <a:t>A pergunta central: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  <a:buNone/>
            </a:pPr>
            <a:r>
              <a:rPr lang="pt-BR" sz="1650" b="1">
                <a:solidFill>
                  <a:srgbClr val="2B2B2B"/>
                </a:solidFill>
                <a:latin typeface="Calibri"/>
                <a:cs typeface="Calibri"/>
              </a:rPr>
              <a:t>as medições químicas conseguem indicar, sozinhas, se um vinho será considerado bom?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450">
                <a:solidFill>
                  <a:srgbClr val="2B2B2B"/>
                </a:solidFill>
                <a:latin typeface="Calibri"/>
                <a:cs typeface="Calibri"/>
              </a:rPr>
              <a:t>Se sim, uma vinícola pode priorizar as amostras mais promissoras e reforçar o controle de qualidade.</a:t>
            </a:r>
          </a:p>
        </p:txBody>
      </p:sp>
      <p:sp>
        <p:nvSpPr>
          <p:cNvPr id="4" name="card4"/>
          <p:cNvSpPr/>
          <p:nvPr/>
        </p:nvSpPr>
        <p:spPr>
          <a:xfrm>
            <a:off x="7269480" y="1554480"/>
            <a:ext cx="4251960" cy="342900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tb5"/>
          <p:cNvSpPr>
            <a:spLocks noGrp="1"/>
          </p:cNvSpPr>
          <p:nvPr/>
        </p:nvSpPr>
        <p:spPr>
          <a:xfrm>
            <a:off x="7507224" y="1737360"/>
            <a:ext cx="3776472" cy="3063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250" b="1" spc="120">
                <a:solidFill>
                  <a:srgbClr val="C49A3A"/>
                </a:solidFill>
                <a:latin typeface="Calibri"/>
                <a:cs typeface="Calibri"/>
              </a:rPr>
              <a:t>O QUE É “FÍSICO-QUÍMICO”?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  <a:buNone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Características do vinho medidas em laboratório — não a opinião de quem prova.</a:t>
            </a:r>
          </a:p>
          <a:p>
            <a:pPr algn="l">
              <a:lnSpc>
                <a:spcPct val="116000"/>
              </a:lnSpc>
              <a:buNone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Ex.: teor de álcool, acidez, açúcar residual, sulfatos, pH e dióxido de enxofre.</a:t>
            </a:r>
          </a:p>
        </p:txBody>
      </p:sp>
      <p:sp>
        <p:nvSpPr>
          <p:cNvPr id="6" name="tb6"/>
          <p:cNvSpPr>
            <a:spLocks noGrp="1"/>
          </p:cNvSpPr>
          <p:nvPr/>
        </p:nvSpPr>
        <p:spPr>
          <a:xfrm>
            <a:off x="640080" y="5257800"/>
            <a:ext cx="10927080" cy="1097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pt-BR" sz="1300" b="1">
                <a:solidFill>
                  <a:srgbClr val="8C2F39"/>
                </a:solidFill>
                <a:latin typeface="Calibri"/>
                <a:cs typeface="Calibri"/>
              </a:rPr>
              <a:t>O caminho (6 etapas):  </a:t>
            </a:r>
            <a:r>
              <a:rPr lang="pt-BR" sz="1300">
                <a:solidFill>
                  <a:srgbClr val="2B2B2B"/>
                </a:solidFill>
                <a:latin typeface="Calibri"/>
                <a:cs typeface="Calibri"/>
              </a:rPr>
              <a:t>1. Problema  →  2. Análise Exploratória  →  3. Pré-processamento  →  4. Modelagem  →  5. Avaliação  →  6. Interpretação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1 · COMPREENSÃO DO PROBLEMA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A pergunta de negócio</a:t>
            </a:r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640080" y="1463040"/>
            <a:ext cx="5806440" cy="4754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6000"/>
              </a:lnSpc>
              <a:spcAft>
                <a:spcPts val="1400"/>
              </a:spcAft>
              <a:buNone/>
            </a:pPr>
            <a:r>
              <a:rPr lang="pt-BR" sz="1700" b="1">
                <a:solidFill>
                  <a:srgbClr val="2B2B2B"/>
                </a:solidFill>
                <a:latin typeface="Calibri"/>
                <a:cs typeface="Calibri"/>
              </a:rPr>
              <a:t>Quais características físico-químicas distinguem um vinho de </a:t>
            </a:r>
            <a:r>
              <a:rPr lang="pt-BR" sz="1700" b="1">
                <a:solidFill>
                  <a:srgbClr val="8C2F39"/>
                </a:solidFill>
                <a:latin typeface="Calibri"/>
                <a:cs typeface="Calibri"/>
              </a:rPr>
              <a:t>alta qualidade</a:t>
            </a:r>
            <a:r>
              <a:rPr lang="pt-BR" sz="1700" b="1">
                <a:solidFill>
                  <a:srgbClr val="2B2B2B"/>
                </a:solidFill>
                <a:latin typeface="Calibri"/>
                <a:cs typeface="Calibri"/>
              </a:rPr>
              <a:t>?</a:t>
            </a:r>
          </a:p>
          <a:p>
            <a:pPr algn="l">
              <a:lnSpc>
                <a:spcPct val="118000"/>
              </a:lnSpc>
              <a:spcAft>
                <a:spcPts val="600"/>
              </a:spcAft>
              <a:buNone/>
            </a:pPr>
            <a:r>
              <a:rPr lang="pt-BR" sz="1450">
                <a:solidFill>
                  <a:srgbClr val="2B2B2B"/>
                </a:solidFill>
                <a:latin typeface="Calibri"/>
                <a:cs typeface="Calibri"/>
              </a:rPr>
              <a:t>Em vez de prever a nota exata (0 a 10), simplificamos para uma pergunta de sim ou não:</a:t>
            </a:r>
          </a:p>
          <a:p>
            <a:pPr algn="l">
              <a:lnSpc>
                <a:spcPct val="116000"/>
              </a:lnSpc>
              <a:spcAft>
                <a:spcPts val="1400"/>
              </a:spcAft>
              <a:buNone/>
            </a:pPr>
            <a:r>
              <a:rPr lang="pt-BR" sz="1550" b="1">
                <a:solidFill>
                  <a:srgbClr val="8C2F39"/>
                </a:solidFill>
                <a:latin typeface="Calibri"/>
                <a:cs typeface="Calibri"/>
              </a:rPr>
              <a:t>o vinho é de alta qualidade, ou não?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450">
                <a:solidFill>
                  <a:srgbClr val="2B2B2B"/>
                </a:solidFill>
                <a:latin typeface="Calibri"/>
                <a:cs typeface="Calibri"/>
              </a:rPr>
              <a:t>Isso se chama </a:t>
            </a:r>
            <a:r>
              <a:rPr lang="pt-BR" sz="1450" b="1">
                <a:solidFill>
                  <a:srgbClr val="2B2B2B"/>
                </a:solidFill>
                <a:latin typeface="Calibri"/>
                <a:cs typeface="Calibri"/>
              </a:rPr>
              <a:t>classificação binária</a:t>
            </a:r>
            <a:r>
              <a:rPr lang="pt-BR" sz="1450">
                <a:solidFill>
                  <a:srgbClr val="2B2B2B"/>
                </a:solidFill>
                <a:latin typeface="Calibri"/>
                <a:cs typeface="Calibri"/>
              </a:rPr>
              <a:t> — cada vinho recebe um de dois rótulos (1 ou 0).</a:t>
            </a:r>
          </a:p>
        </p:txBody>
      </p:sp>
      <p:sp>
        <p:nvSpPr>
          <p:cNvPr id="5" name="card5"/>
          <p:cNvSpPr/>
          <p:nvPr/>
        </p:nvSpPr>
        <p:spPr>
          <a:xfrm>
            <a:off x="6720840" y="1554480"/>
            <a:ext cx="4828032" cy="4114800"/>
          </a:xfrm>
          <a:prstGeom prst="roundRect">
            <a:avLst>
              <a:gd name="adj" fmla="val 8000"/>
            </a:avLst>
          </a:prstGeom>
          <a:solidFill>
            <a:srgbClr val="F6EFEA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b6"/>
          <p:cNvSpPr>
            <a:spLocks noGrp="1"/>
          </p:cNvSpPr>
          <p:nvPr/>
        </p:nvSpPr>
        <p:spPr>
          <a:xfrm>
            <a:off x="7114032" y="1847088"/>
            <a:ext cx="4069080" cy="3611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1400"/>
              </a:spcAft>
              <a:buNone/>
            </a:pPr>
            <a:r>
              <a:rPr lang="pt-BR" sz="1300" b="1" spc="150">
                <a:solidFill>
                  <a:srgbClr val="C49A3A"/>
                </a:solidFill>
                <a:latin typeface="Calibri"/>
                <a:cs typeface="Calibri"/>
              </a:rPr>
              <a:t>ALVO · CLASSIFICAÇÃO BINÁRIA</a:t>
            </a:r>
          </a:p>
          <a:p>
            <a:pPr algn="l">
              <a:spcAft>
                <a:spcPts val="200"/>
              </a:spcAft>
              <a:buNone/>
            </a:pPr>
            <a:r>
              <a:rPr lang="pt-BR" sz="2400" b="1">
                <a:solidFill>
                  <a:srgbClr val="8C2F39"/>
                </a:solidFill>
                <a:latin typeface="Cambria"/>
                <a:cs typeface="Cambria"/>
              </a:rPr>
              <a:t>high_quality = 1</a:t>
            </a:r>
          </a:p>
          <a:p>
            <a:pPr algn="l">
              <a:spcAft>
                <a:spcPts val="1600"/>
              </a:spcAft>
              <a:buNone/>
            </a:pPr>
            <a:r>
              <a:rPr lang="pt-BR" sz="1500">
                <a:solidFill>
                  <a:srgbClr val="2B2B2B"/>
                </a:solidFill>
                <a:latin typeface="Calibri"/>
                <a:cs typeface="Calibri"/>
              </a:rPr>
              <a:t>se a nota (quality) ≥ 7</a:t>
            </a:r>
          </a:p>
          <a:p>
            <a:pPr algn="l">
              <a:spcAft>
                <a:spcPts val="200"/>
              </a:spcAft>
              <a:buNone/>
            </a:pPr>
            <a:r>
              <a:rPr lang="pt-BR" sz="2000" b="1">
                <a:solidFill>
                  <a:srgbClr val="2B2B2B"/>
                </a:solidFill>
                <a:latin typeface="Cambria"/>
                <a:cs typeface="Cambria"/>
              </a:rPr>
              <a:t>high_quality = 0</a:t>
            </a:r>
          </a:p>
          <a:p>
            <a:pPr algn="l">
              <a:spcAft>
                <a:spcPts val="1600"/>
              </a:spcAft>
              <a:buNone/>
            </a:pPr>
            <a:r>
              <a:rPr lang="pt-BR" sz="1500">
                <a:solidFill>
                  <a:srgbClr val="2B2B2B"/>
                </a:solidFill>
                <a:latin typeface="Calibri"/>
                <a:cs typeface="Calibri"/>
              </a:rPr>
              <a:t>caso contrário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300" i="1">
                <a:solidFill>
                  <a:srgbClr val="6E6E6E"/>
                </a:solidFill>
                <a:latin typeface="Calibri"/>
                <a:cs typeface="Calibri"/>
              </a:rPr>
              <a:t>Nota 7, 8 ou mais = alta qualidade; abaixo de 7 = comum.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1 · OS DADOS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O conjunto de dados</a:t>
            </a:r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658368" y="1316736"/>
            <a:ext cx="10881360" cy="5029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pt-BR" sz="1350">
                <a:solidFill>
                  <a:srgbClr val="6E6E6E"/>
                </a:solidFill>
                <a:latin typeface="Calibri"/>
                <a:cs typeface="Calibri"/>
              </a:rPr>
              <a:t>Wine Quality Dataset (vinho tinto) — uma linha por amostra, com medições de laboratório.</a:t>
            </a:r>
          </a:p>
        </p:txBody>
      </p:sp>
      <p:sp>
        <p:nvSpPr>
          <p:cNvPr id="5" name="card5"/>
          <p:cNvSpPr/>
          <p:nvPr/>
        </p:nvSpPr>
        <p:spPr>
          <a:xfrm>
            <a:off x="640080" y="2084832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b6"/>
          <p:cNvSpPr>
            <a:spLocks noGrp="1"/>
          </p:cNvSpPr>
          <p:nvPr/>
        </p:nvSpPr>
        <p:spPr>
          <a:xfrm>
            <a:off x="749808" y="2395728"/>
            <a:ext cx="2295144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pt-BR" sz="4000" b="1">
                <a:solidFill>
                  <a:srgbClr val="8C2F39"/>
                </a:solidFill>
                <a:latin typeface="Cambria"/>
                <a:cs typeface="Cambria"/>
              </a:rPr>
              <a:t>1.018</a:t>
            </a:r>
          </a:p>
          <a:p>
            <a:pPr algn="ctr">
              <a:spcAft>
                <a:spcPts val="300"/>
              </a:spcAft>
              <a:buNone/>
            </a:pPr>
            <a:r>
              <a:rPr lang="pt-BR" sz="1450" b="1">
                <a:solidFill>
                  <a:srgbClr val="2B2B2B"/>
                </a:solidFill>
                <a:latin typeface="Calibri"/>
                <a:cs typeface="Calibri"/>
              </a:rPr>
              <a:t>vinhos analisados</a:t>
            </a:r>
          </a:p>
          <a:p>
            <a:pPr algn="ctr">
              <a:buNone/>
            </a:pPr>
            <a:r>
              <a:rPr lang="pt-BR" sz="1150">
                <a:solidFill>
                  <a:srgbClr val="6E6E6E"/>
                </a:solidFill>
                <a:latin typeface="Calibri"/>
                <a:cs typeface="Calibri"/>
              </a:rPr>
              <a:t>após remover 125 repetidos</a:t>
            </a:r>
          </a:p>
        </p:txBody>
      </p:sp>
      <p:sp>
        <p:nvSpPr>
          <p:cNvPr id="7" name="card7"/>
          <p:cNvSpPr/>
          <p:nvPr/>
        </p:nvSpPr>
        <p:spPr>
          <a:xfrm>
            <a:off x="3500323" y="2084832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b8"/>
          <p:cNvSpPr>
            <a:spLocks noGrp="1"/>
          </p:cNvSpPr>
          <p:nvPr/>
        </p:nvSpPr>
        <p:spPr>
          <a:xfrm>
            <a:off x="3610051" y="2395728"/>
            <a:ext cx="2295144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pt-BR" sz="4000" b="1">
                <a:solidFill>
                  <a:srgbClr val="8C2F39"/>
                </a:solidFill>
                <a:latin typeface="Cambria"/>
                <a:cs typeface="Cambria"/>
              </a:rPr>
              <a:t>11</a:t>
            </a:r>
          </a:p>
          <a:p>
            <a:pPr algn="ctr">
              <a:spcAft>
                <a:spcPts val="300"/>
              </a:spcAft>
              <a:buNone/>
            </a:pPr>
            <a:r>
              <a:rPr lang="pt-BR" sz="1450" b="1">
                <a:solidFill>
                  <a:srgbClr val="2B2B2B"/>
                </a:solidFill>
                <a:latin typeface="Calibri"/>
                <a:cs typeface="Calibri"/>
              </a:rPr>
              <a:t>variáveis medidas</a:t>
            </a:r>
          </a:p>
          <a:p>
            <a:pPr algn="ctr">
              <a:buNone/>
            </a:pPr>
            <a:r>
              <a:rPr lang="pt-BR" sz="1150">
                <a:solidFill>
                  <a:srgbClr val="6E6E6E"/>
                </a:solidFill>
                <a:latin typeface="Calibri"/>
                <a:cs typeface="Calibri"/>
              </a:rPr>
              <a:t>no laboratório</a:t>
            </a:r>
          </a:p>
        </p:txBody>
      </p:sp>
      <p:sp>
        <p:nvSpPr>
          <p:cNvPr id="9" name="card9"/>
          <p:cNvSpPr/>
          <p:nvPr/>
        </p:nvSpPr>
        <p:spPr>
          <a:xfrm>
            <a:off x="6360566" y="2084832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b10"/>
          <p:cNvSpPr>
            <a:spLocks noGrp="1"/>
          </p:cNvSpPr>
          <p:nvPr/>
        </p:nvSpPr>
        <p:spPr>
          <a:xfrm>
            <a:off x="6470294" y="2395728"/>
            <a:ext cx="2295144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pt-BR" sz="4000" b="1">
                <a:solidFill>
                  <a:srgbClr val="8C2F39"/>
                </a:solidFill>
                <a:latin typeface="Cambria"/>
                <a:cs typeface="Cambria"/>
              </a:rPr>
              <a:t>0</a:t>
            </a:r>
          </a:p>
          <a:p>
            <a:pPr algn="ctr">
              <a:spcAft>
                <a:spcPts val="300"/>
              </a:spcAft>
              <a:buNone/>
            </a:pPr>
            <a:r>
              <a:rPr lang="pt-BR" sz="1450" b="1">
                <a:solidFill>
                  <a:srgbClr val="2B2B2B"/>
                </a:solidFill>
                <a:latin typeface="Calibri"/>
                <a:cs typeface="Calibri"/>
              </a:rPr>
              <a:t>dados faltando</a:t>
            </a:r>
          </a:p>
          <a:p>
            <a:pPr algn="ctr">
              <a:buNone/>
            </a:pPr>
            <a:r>
              <a:rPr lang="pt-BR" sz="1150">
                <a:solidFill>
                  <a:srgbClr val="6E6E6E"/>
                </a:solidFill>
                <a:latin typeface="Calibri"/>
                <a:cs typeface="Calibri"/>
              </a:rPr>
              <a:t>base 100% completa</a:t>
            </a:r>
          </a:p>
        </p:txBody>
      </p:sp>
      <p:sp>
        <p:nvSpPr>
          <p:cNvPr id="11" name="card11"/>
          <p:cNvSpPr/>
          <p:nvPr/>
        </p:nvSpPr>
        <p:spPr>
          <a:xfrm>
            <a:off x="9220810" y="2084832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b12"/>
          <p:cNvSpPr>
            <a:spLocks noGrp="1"/>
          </p:cNvSpPr>
          <p:nvPr/>
        </p:nvSpPr>
        <p:spPr>
          <a:xfrm>
            <a:off x="9330538" y="2395728"/>
            <a:ext cx="2295144" cy="182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pt-BR" sz="4000" b="1">
                <a:solidFill>
                  <a:srgbClr val="8C2F39"/>
                </a:solidFill>
                <a:latin typeface="Cambria"/>
                <a:cs typeface="Cambria"/>
              </a:rPr>
              <a:t>13,5%</a:t>
            </a:r>
          </a:p>
          <a:p>
            <a:pPr algn="ctr">
              <a:spcAft>
                <a:spcPts val="300"/>
              </a:spcAft>
              <a:buNone/>
            </a:pPr>
            <a:r>
              <a:rPr lang="pt-BR" sz="1450" b="1">
                <a:solidFill>
                  <a:srgbClr val="2B2B2B"/>
                </a:solidFill>
                <a:latin typeface="Calibri"/>
                <a:cs typeface="Calibri"/>
              </a:rPr>
              <a:t>são de alta qualidade</a:t>
            </a:r>
          </a:p>
          <a:p>
            <a:pPr algn="ctr">
              <a:buNone/>
            </a:pPr>
            <a:r>
              <a:rPr lang="pt-BR" sz="1150">
                <a:solidFill>
                  <a:srgbClr val="6E6E6E"/>
                </a:solidFill>
                <a:latin typeface="Calibri"/>
                <a:cs typeface="Calibri"/>
              </a:rPr>
              <a:t>nota ≥ 7  (≈ 1 em 7)</a:t>
            </a:r>
          </a:p>
        </p:txBody>
      </p:sp>
      <p:sp>
        <p:nvSpPr>
          <p:cNvPr id="13" name="tb13"/>
          <p:cNvSpPr>
            <a:spLocks noGrp="1"/>
          </p:cNvSpPr>
          <p:nvPr/>
        </p:nvSpPr>
        <p:spPr>
          <a:xfrm>
            <a:off x="640080" y="4800600"/>
            <a:ext cx="10927080" cy="15544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Exemplos de variáveis: 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teor alcoólico, acidez volátil, ácido cítrico, açúcar residual, cloretos, sulfatos, pH e dióxido de enxofre.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200">
                <a:solidFill>
                  <a:srgbClr val="6E6E6E"/>
                </a:solidFill>
                <a:latin typeface="Calibri"/>
                <a:cs typeface="Calibri"/>
              </a:rPr>
              <a:t>“Sem valores ausentes” = nenhuma medição faltando.   “Duplicatas” = amostras idênticas repetidas, removidas para não enviesar a análise.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2 · ANÁLISE EXPLORATÓRIA (EDA)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O desafio: classes desbalanceadas</a:t>
            </a:r>
          </a:p>
        </p:txBody>
      </p:sp>
      <p:pic>
        <p:nvPicPr>
          <p:cNvPr id="4" name="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31711"/>
            <a:ext cx="5852160" cy="3646138"/>
          </a:xfrm>
          <a:prstGeom prst="rect">
            <a:avLst/>
          </a:prstGeom>
        </p:spPr>
      </p:pic>
      <p:sp>
        <p:nvSpPr>
          <p:cNvPr id="5" name="tb5"/>
          <p:cNvSpPr>
            <a:spLocks noGrp="1"/>
          </p:cNvSpPr>
          <p:nvPr/>
        </p:nvSpPr>
        <p:spPr>
          <a:xfrm>
            <a:off x="6629400" y="1508760"/>
            <a:ext cx="4937760" cy="4937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buNone/>
            </a:pPr>
            <a:r>
              <a:rPr lang="pt-BR" sz="1550" b="1">
                <a:solidFill>
                  <a:srgbClr val="8C2F39"/>
                </a:solidFill>
                <a:latin typeface="Calibri"/>
                <a:cs typeface="Calibri"/>
              </a:rPr>
              <a:t>“Desbalanceado”</a:t>
            </a:r>
            <a:r>
              <a:rPr lang="pt-BR" sz="1550">
                <a:solidFill>
                  <a:srgbClr val="2B2B2B"/>
                </a:solidFill>
                <a:latin typeface="Calibri"/>
                <a:cs typeface="Calibri"/>
              </a:rPr>
              <a:t> = uma classe é muito mais rara que a outra.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  <a:buNone/>
            </a:pP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De cada 100 vinhos, só ~14 são de alta qualidade (≈ 6 para 1).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450" b="1">
                <a:solidFill>
                  <a:srgbClr val="8C2F39"/>
                </a:solidFill>
                <a:latin typeface="Calibri"/>
                <a:cs typeface="Calibri"/>
              </a:rPr>
              <a:t>Por que isso engana?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  <a:buNone/>
            </a:pP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Um modelo que dissesse “não é alta qualidade” para todos já acertaria 86% — parece ótimo, mas não acha nenhum vinho especial.</a:t>
            </a:r>
          </a:p>
          <a:p>
            <a:pPr algn="l">
              <a:spcAft>
                <a:spcPts val="400"/>
              </a:spcAft>
              <a:buNone/>
            </a:pPr>
            <a:r>
              <a:rPr lang="pt-BR" sz="1450" b="1">
                <a:solidFill>
                  <a:srgbClr val="8C2F39"/>
                </a:solidFill>
                <a:latin typeface="Calibri"/>
                <a:cs typeface="Calibri"/>
              </a:rPr>
              <a:t>Como lidamos: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métricas que valorizam a classe rara (F1, PR-AUC), validação estratificada e balanceamento de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2 · ANÁLISE EXPLORATÓRIA (EDA)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Distribuições e outliers</a:t>
            </a:r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640080" y="1463040"/>
            <a:ext cx="10927080" cy="566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Como ler: 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cada mini-gráfico mostra onde se concentram os valores de uma variável — quanto mais alta a barra, mais vinhos têm aquele valor.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271" y="2084832"/>
            <a:ext cx="6488978" cy="3429000"/>
          </a:xfrm>
          <a:prstGeom prst="rect">
            <a:avLst/>
          </a:prstGeom>
        </p:spPr>
      </p:pic>
      <p:sp>
        <p:nvSpPr>
          <p:cNvPr id="6" name="tb6"/>
          <p:cNvSpPr>
            <a:spLocks noGrp="1"/>
          </p:cNvSpPr>
          <p:nvPr/>
        </p:nvSpPr>
        <p:spPr>
          <a:xfrm>
            <a:off x="640080" y="5669280"/>
            <a:ext cx="1092708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pt-BR" sz="1300" b="1">
                <a:solidFill>
                  <a:srgbClr val="8C2F39"/>
                </a:solidFill>
                <a:latin typeface="Calibri"/>
                <a:cs typeface="Calibri"/>
              </a:rPr>
              <a:t>Escalas muito diferentes</a:t>
            </a:r>
            <a:r>
              <a:rPr lang="pt-BR" sz="1300">
                <a:solidFill>
                  <a:srgbClr val="2B2B2B"/>
                </a:solidFill>
                <a:latin typeface="Calibri"/>
                <a:cs typeface="Calibri"/>
              </a:rPr>
              <a:t> (ex.: álcool ~8 a 15; outras perto de 0) e algumas </a:t>
            </a:r>
            <a:r>
              <a:rPr lang="pt-BR" sz="1300" b="1">
                <a:solidFill>
                  <a:srgbClr val="2B2B2B"/>
                </a:solidFill>
                <a:latin typeface="Calibri"/>
                <a:cs typeface="Calibri"/>
              </a:rPr>
              <a:t>assimétricas com valores extremos (outliers)</a:t>
            </a:r>
            <a:r>
              <a:rPr lang="pt-BR" sz="1300">
                <a:solidFill>
                  <a:srgbClr val="2B2B2B"/>
                </a:solidFill>
                <a:latin typeface="Calibri"/>
                <a:cs typeface="Calibri"/>
              </a:rPr>
              <a:t>. → Na próxima etapa: padronizar (mesma régua) e limitar outliers (capping por IQR).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2 · ANÁLISE EXPLORATÓRIA (EDA)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O que se correlaciona com a qualidade</a:t>
            </a:r>
          </a:p>
        </p:txBody>
      </p:sp>
      <p:pic>
        <p:nvPicPr>
          <p:cNvPr id="4" name="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5663"/>
            <a:ext cx="6675120" cy="3781114"/>
          </a:xfrm>
          <a:prstGeom prst="rect">
            <a:avLst/>
          </a:prstGeom>
        </p:spPr>
      </p:pic>
      <p:sp>
        <p:nvSpPr>
          <p:cNvPr id="5" name="tb5"/>
          <p:cNvSpPr>
            <a:spLocks noGrp="1"/>
          </p:cNvSpPr>
          <p:nvPr/>
        </p:nvSpPr>
        <p:spPr>
          <a:xfrm>
            <a:off x="7315200" y="1463040"/>
            <a:ext cx="4251960" cy="502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50" b="1">
                <a:solidFill>
                  <a:srgbClr val="8C2F39"/>
                </a:solidFill>
                <a:latin typeface="Calibri"/>
                <a:cs typeface="Calibri"/>
              </a:rPr>
              <a:t>O que é correlação?</a:t>
            </a:r>
          </a:p>
          <a:p>
            <a:pPr algn="l">
              <a:lnSpc>
                <a:spcPct val="116000"/>
              </a:lnSpc>
              <a:spcAft>
                <a:spcPts val="120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Calibri"/>
                <a:cs typeface="Calibri"/>
              </a:rPr>
              <a:t>Número de −1 a +1: </a:t>
            </a:r>
            <a:r>
              <a:rPr lang="pt-BR" sz="1300" b="1">
                <a:solidFill>
                  <a:srgbClr val="8C2F39"/>
                </a:solidFill>
                <a:latin typeface="Calibri"/>
                <a:cs typeface="Calibri"/>
              </a:rPr>
              <a:t>positivo</a:t>
            </a:r>
            <a:r>
              <a:rPr lang="pt-BR" sz="1300">
                <a:solidFill>
                  <a:srgbClr val="2B2B2B"/>
                </a:solidFill>
                <a:latin typeface="Calibri"/>
                <a:cs typeface="Calibri"/>
              </a:rPr>
              <a:t> (sobem juntas), </a:t>
            </a:r>
            <a:r>
              <a:rPr lang="pt-BR" sz="1300" b="1">
                <a:solidFill>
                  <a:srgbClr val="5E7386"/>
                </a:solidFill>
                <a:latin typeface="Calibri"/>
                <a:cs typeface="Calibri"/>
              </a:rPr>
              <a:t>negativo</a:t>
            </a:r>
            <a:r>
              <a:rPr lang="pt-BR" sz="1300">
                <a:solidFill>
                  <a:srgbClr val="2B2B2B"/>
                </a:solidFill>
                <a:latin typeface="Calibri"/>
                <a:cs typeface="Calibri"/>
              </a:rPr>
              <a:t> (uma sobe, a outra cai) ou perto de 0 (pouca relação).</a:t>
            </a:r>
          </a:p>
          <a:p>
            <a:pPr marL="292608" indent="-292608" algn="l">
              <a:lnSpc>
                <a:spcPct val="114000"/>
              </a:lnSpc>
              <a:spcAft>
                <a:spcPts val="8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Álcool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: maior impulsionador (+0,41).</a:t>
            </a:r>
          </a:p>
          <a:p>
            <a:pPr marL="292608" indent="-292608" algn="l">
              <a:lnSpc>
                <a:spcPct val="114000"/>
              </a:lnSpc>
              <a:spcAft>
                <a:spcPts val="8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Ácido cítrico (+0,24) e sulfatos (+0,21) também ajudam.</a:t>
            </a:r>
          </a:p>
          <a:p>
            <a:pPr marL="292608" indent="-292608" algn="l">
              <a:lnSpc>
                <a:spcPct val="114000"/>
              </a:lnSpc>
              <a:spcAft>
                <a:spcPts val="10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Acidez volátil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: a mais negativa (−0,30) — aroma avinagrado.</a:t>
            </a:r>
          </a:p>
          <a:p>
            <a:pPr algn="l">
              <a:lnSpc>
                <a:spcPct val="112000"/>
              </a:lnSpc>
              <a:buNone/>
            </a:pPr>
            <a:r>
              <a:rPr lang="pt-BR" sz="1150" i="1">
                <a:solidFill>
                  <a:srgbClr val="6E6E6E"/>
                </a:solidFill>
                <a:latin typeface="Calibri"/>
                <a:cs typeface="Calibri"/>
              </a:rPr>
              <a:t>Cada correlação é justificada pela enologia.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3 · PRÉ-PROCESSAMENTO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Preparando os dados para os modelos</a:t>
            </a:r>
          </a:p>
        </p:txBody>
      </p:sp>
      <p:sp>
        <p:nvSpPr>
          <p:cNvPr id="4" name="card4"/>
          <p:cNvSpPr/>
          <p:nvPr/>
        </p:nvSpPr>
        <p:spPr>
          <a:xfrm>
            <a:off x="640080" y="1783080"/>
            <a:ext cx="1920240" cy="214884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ov5"/>
          <p:cNvSpPr/>
          <p:nvPr/>
        </p:nvSpPr>
        <p:spPr>
          <a:xfrm>
            <a:off x="1344168" y="2002536"/>
            <a:ext cx="512064" cy="512064"/>
          </a:xfrm>
          <a:prstGeom prst="ellipse">
            <a:avLst/>
          </a:prstGeom>
          <a:solidFill>
            <a:srgbClr val="8C2F39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tb6"/>
          <p:cNvSpPr>
            <a:spLocks noGrp="1"/>
          </p:cNvSpPr>
          <p:nvPr/>
        </p:nvSpPr>
        <p:spPr>
          <a:xfrm>
            <a:off x="1344168" y="2002536"/>
            <a:ext cx="512064" cy="512064"/>
          </a:xfrm>
          <a:prstGeom prst="rect">
            <a:avLst/>
          </a:prstGeom>
          <a:noFill/>
        </p:spPr>
        <p:txBody>
          <a:bodyPr wrap="square" lIns="0" tIns="0" rIns="0" bIns="18288" anchor="ctr">
            <a:normAutofit/>
          </a:bodyPr>
          <a:lstStyle/>
          <a:p>
            <a:pPr algn="ctr">
              <a:buNone/>
            </a:pPr>
            <a:r>
              <a:rPr lang="pt-BR" sz="1800" b="1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7" name="tb7"/>
          <p:cNvSpPr>
            <a:spLocks noGrp="1"/>
          </p:cNvSpPr>
          <p:nvPr/>
        </p:nvSpPr>
        <p:spPr>
          <a:xfrm>
            <a:off x="713232" y="2660904"/>
            <a:ext cx="1773936" cy="1188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pt-BR" sz="1250" b="1">
                <a:solidFill>
                  <a:srgbClr val="2B2B2B"/>
                </a:solidFill>
                <a:latin typeface="Calibri"/>
                <a:cs typeface="Calibri"/>
              </a:rPr>
              <a:t>Remover 125 duplicatas</a:t>
            </a:r>
          </a:p>
        </p:txBody>
      </p:sp>
      <p:sp>
        <p:nvSpPr>
          <p:cNvPr id="8" name="card8"/>
          <p:cNvSpPr/>
          <p:nvPr/>
        </p:nvSpPr>
        <p:spPr>
          <a:xfrm>
            <a:off x="2889504" y="1783080"/>
            <a:ext cx="1920240" cy="214884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ov9"/>
          <p:cNvSpPr/>
          <p:nvPr/>
        </p:nvSpPr>
        <p:spPr>
          <a:xfrm>
            <a:off x="3593592" y="2002536"/>
            <a:ext cx="512064" cy="512064"/>
          </a:xfrm>
          <a:prstGeom prst="ellipse">
            <a:avLst/>
          </a:prstGeom>
          <a:solidFill>
            <a:srgbClr val="8C2F39"/>
          </a:solidFill>
        </p:spPr>
        <p:txBody>
          <a:bodyPr/>
          <a:lstStyle/>
          <a:p>
            <a:endParaRPr lang="pt-BR"/>
          </a:p>
        </p:txBody>
      </p:sp>
      <p:sp>
        <p:nvSpPr>
          <p:cNvPr id="10" name="tb10"/>
          <p:cNvSpPr>
            <a:spLocks noGrp="1"/>
          </p:cNvSpPr>
          <p:nvPr/>
        </p:nvSpPr>
        <p:spPr>
          <a:xfrm>
            <a:off x="3593592" y="2002536"/>
            <a:ext cx="512064" cy="512064"/>
          </a:xfrm>
          <a:prstGeom prst="rect">
            <a:avLst/>
          </a:prstGeom>
          <a:noFill/>
        </p:spPr>
        <p:txBody>
          <a:bodyPr wrap="square" lIns="0" tIns="0" rIns="0" bIns="18288" anchor="ctr">
            <a:normAutofit/>
          </a:bodyPr>
          <a:lstStyle/>
          <a:p>
            <a:pPr algn="ctr">
              <a:buNone/>
            </a:pPr>
            <a:r>
              <a:rPr lang="pt-BR" sz="1800" b="1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1" name="tb11"/>
          <p:cNvSpPr>
            <a:spLocks noGrp="1"/>
          </p:cNvSpPr>
          <p:nvPr/>
        </p:nvSpPr>
        <p:spPr>
          <a:xfrm>
            <a:off x="2962656" y="2660904"/>
            <a:ext cx="1773936" cy="1188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pt-BR" sz="1250" b="1">
                <a:solidFill>
                  <a:srgbClr val="2B2B2B"/>
                </a:solidFill>
                <a:latin typeface="Calibri"/>
                <a:cs typeface="Calibri"/>
              </a:rPr>
              <a:t>Limitar outliers (capping IQR)</a:t>
            </a:r>
          </a:p>
        </p:txBody>
      </p:sp>
      <p:sp>
        <p:nvSpPr>
          <p:cNvPr id="12" name="card12"/>
          <p:cNvSpPr/>
          <p:nvPr/>
        </p:nvSpPr>
        <p:spPr>
          <a:xfrm>
            <a:off x="5138928" y="1783080"/>
            <a:ext cx="1920240" cy="214884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ov13"/>
          <p:cNvSpPr/>
          <p:nvPr/>
        </p:nvSpPr>
        <p:spPr>
          <a:xfrm>
            <a:off x="5843016" y="2002536"/>
            <a:ext cx="512064" cy="512064"/>
          </a:xfrm>
          <a:prstGeom prst="ellipse">
            <a:avLst/>
          </a:prstGeom>
          <a:solidFill>
            <a:srgbClr val="8C2F39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tb14"/>
          <p:cNvSpPr>
            <a:spLocks noGrp="1"/>
          </p:cNvSpPr>
          <p:nvPr/>
        </p:nvSpPr>
        <p:spPr>
          <a:xfrm>
            <a:off x="5843016" y="2002536"/>
            <a:ext cx="512064" cy="512064"/>
          </a:xfrm>
          <a:prstGeom prst="rect">
            <a:avLst/>
          </a:prstGeom>
          <a:noFill/>
        </p:spPr>
        <p:txBody>
          <a:bodyPr wrap="square" lIns="0" tIns="0" rIns="0" bIns="18288" anchor="ctr">
            <a:normAutofit/>
          </a:bodyPr>
          <a:lstStyle/>
          <a:p>
            <a:pPr algn="ctr">
              <a:buNone/>
            </a:pPr>
            <a:r>
              <a:rPr lang="pt-BR" sz="1800" b="1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5" name="tb15"/>
          <p:cNvSpPr>
            <a:spLocks noGrp="1"/>
          </p:cNvSpPr>
          <p:nvPr/>
        </p:nvSpPr>
        <p:spPr>
          <a:xfrm>
            <a:off x="5212080" y="2660904"/>
            <a:ext cx="1773936" cy="1188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pt-BR" sz="1250" b="1">
                <a:solidFill>
                  <a:srgbClr val="2B2B2B"/>
                </a:solidFill>
                <a:latin typeface="Calibri"/>
                <a:cs typeface="Calibri"/>
              </a:rPr>
              <a:t>Criar 3 variáveis novas</a:t>
            </a:r>
          </a:p>
        </p:txBody>
      </p:sp>
      <p:sp>
        <p:nvSpPr>
          <p:cNvPr id="16" name="card16"/>
          <p:cNvSpPr/>
          <p:nvPr/>
        </p:nvSpPr>
        <p:spPr>
          <a:xfrm>
            <a:off x="7388352" y="1783080"/>
            <a:ext cx="1920240" cy="214884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ov17"/>
          <p:cNvSpPr/>
          <p:nvPr/>
        </p:nvSpPr>
        <p:spPr>
          <a:xfrm>
            <a:off x="8092440" y="2002536"/>
            <a:ext cx="512064" cy="512064"/>
          </a:xfrm>
          <a:prstGeom prst="ellipse">
            <a:avLst/>
          </a:prstGeom>
          <a:solidFill>
            <a:srgbClr val="8C2F39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tb18"/>
          <p:cNvSpPr>
            <a:spLocks noGrp="1"/>
          </p:cNvSpPr>
          <p:nvPr/>
        </p:nvSpPr>
        <p:spPr>
          <a:xfrm>
            <a:off x="8092440" y="2002536"/>
            <a:ext cx="512064" cy="512064"/>
          </a:xfrm>
          <a:prstGeom prst="rect">
            <a:avLst/>
          </a:prstGeom>
          <a:noFill/>
        </p:spPr>
        <p:txBody>
          <a:bodyPr wrap="square" lIns="0" tIns="0" rIns="0" bIns="18288" anchor="ctr">
            <a:normAutofit/>
          </a:bodyPr>
          <a:lstStyle/>
          <a:p>
            <a:pPr algn="ctr">
              <a:buNone/>
            </a:pPr>
            <a:r>
              <a:rPr lang="pt-BR" sz="1800" b="1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9" name="tb19"/>
          <p:cNvSpPr>
            <a:spLocks noGrp="1"/>
          </p:cNvSpPr>
          <p:nvPr/>
        </p:nvSpPr>
        <p:spPr>
          <a:xfrm>
            <a:off x="7461504" y="2660904"/>
            <a:ext cx="1773936" cy="1188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pt-BR" sz="1250" b="1">
                <a:solidFill>
                  <a:srgbClr val="2B2B2B"/>
                </a:solidFill>
                <a:latin typeface="Calibri"/>
                <a:cs typeface="Calibri"/>
              </a:rPr>
              <a:t>Split estratificado 80/20</a:t>
            </a:r>
          </a:p>
        </p:txBody>
      </p:sp>
      <p:sp>
        <p:nvSpPr>
          <p:cNvPr id="20" name="card20"/>
          <p:cNvSpPr/>
          <p:nvPr/>
        </p:nvSpPr>
        <p:spPr>
          <a:xfrm>
            <a:off x="9637776" y="1783080"/>
            <a:ext cx="1920240" cy="214884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ov21"/>
          <p:cNvSpPr/>
          <p:nvPr/>
        </p:nvSpPr>
        <p:spPr>
          <a:xfrm>
            <a:off x="10341864" y="2002536"/>
            <a:ext cx="512064" cy="512064"/>
          </a:xfrm>
          <a:prstGeom prst="ellipse">
            <a:avLst/>
          </a:prstGeom>
          <a:solidFill>
            <a:srgbClr val="8C2F39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tb22"/>
          <p:cNvSpPr>
            <a:spLocks noGrp="1"/>
          </p:cNvSpPr>
          <p:nvPr/>
        </p:nvSpPr>
        <p:spPr>
          <a:xfrm>
            <a:off x="10341864" y="2002536"/>
            <a:ext cx="512064" cy="512064"/>
          </a:xfrm>
          <a:prstGeom prst="rect">
            <a:avLst/>
          </a:prstGeom>
          <a:noFill/>
        </p:spPr>
        <p:txBody>
          <a:bodyPr wrap="square" lIns="0" tIns="0" rIns="0" bIns="18288" anchor="ctr">
            <a:normAutofit/>
          </a:bodyPr>
          <a:lstStyle/>
          <a:p>
            <a:pPr algn="ctr">
              <a:buNone/>
            </a:pPr>
            <a:r>
              <a:rPr lang="pt-BR" sz="1800" b="1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23" name="tb23"/>
          <p:cNvSpPr>
            <a:spLocks noGrp="1"/>
          </p:cNvSpPr>
          <p:nvPr/>
        </p:nvSpPr>
        <p:spPr>
          <a:xfrm>
            <a:off x="9710928" y="2660904"/>
            <a:ext cx="1773936" cy="11887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pt-BR" sz="1250" b="1">
                <a:solidFill>
                  <a:srgbClr val="2B2B2B"/>
                </a:solidFill>
                <a:latin typeface="Calibri"/>
                <a:cs typeface="Calibri"/>
              </a:rPr>
              <a:t>Padronizar (StandardScaler)</a:t>
            </a:r>
          </a:p>
        </p:txBody>
      </p:sp>
      <p:sp>
        <p:nvSpPr>
          <p:cNvPr id="24" name="card24"/>
          <p:cNvSpPr/>
          <p:nvPr/>
        </p:nvSpPr>
        <p:spPr>
          <a:xfrm>
            <a:off x="640080" y="4297680"/>
            <a:ext cx="10927080" cy="187452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tb25"/>
          <p:cNvSpPr>
            <a:spLocks noGrp="1"/>
          </p:cNvSpPr>
          <p:nvPr/>
        </p:nvSpPr>
        <p:spPr>
          <a:xfrm>
            <a:off x="877824" y="4480560"/>
            <a:ext cx="10451592" cy="1508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250" b="1" spc="120">
                <a:solidFill>
                  <a:srgbClr val="C49A3A"/>
                </a:solidFill>
                <a:latin typeface="Calibri"/>
                <a:cs typeface="Calibri"/>
              </a:rPr>
              <a:t>SEM VAZAMENTO DE DADOS (decisão metodológica central)</a:t>
            </a:r>
          </a:p>
          <a:p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Duplicatas saem </a:t>
            </a: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antes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 do split; capping e padronização são ajustados </a:t>
            </a: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só no treino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 e aplicados ao teste. O modelo nunca “espia” os dados de avaliação.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350" b="1">
                <a:solidFill>
                  <a:srgbClr val="8C2F39"/>
                </a:solidFill>
                <a:latin typeface="Calibri"/>
                <a:cs typeface="Calibri"/>
              </a:rPr>
              <a:t>Variáveis criadas (base enológica): 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alcohol_sulphates (corpo × conservante), fixed_volatile_ratio (acidez boa vs. ruim) e free_sulfur_ratio (SO₂ que protege o vinho).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4 · MODELAGEM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Três modelos, famílias diferentes</a:t>
            </a:r>
          </a:p>
        </p:txBody>
      </p:sp>
      <p:sp>
        <p:nvSpPr>
          <p:cNvPr id="4" name="card4"/>
          <p:cNvSpPr/>
          <p:nvPr/>
        </p:nvSpPr>
        <p:spPr>
          <a:xfrm>
            <a:off x="640080" y="1508760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b5"/>
          <p:cNvSpPr>
            <a:spLocks noGrp="1"/>
          </p:cNvSpPr>
          <p:nvPr/>
        </p:nvSpPr>
        <p:spPr>
          <a:xfrm>
            <a:off x="896112" y="1746504"/>
            <a:ext cx="2871216" cy="2240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100" b="1" spc="110">
                <a:solidFill>
                  <a:srgbClr val="C49A3A"/>
                </a:solidFill>
                <a:latin typeface="Calibri"/>
                <a:cs typeface="Calibri"/>
              </a:rPr>
              <a:t>BASELINE LINEAR</a:t>
            </a:r>
          </a:p>
          <a:p>
            <a:pPr algn="l">
              <a:spcAft>
                <a:spcPts val="900"/>
              </a:spcAft>
              <a:buNone/>
            </a:pPr>
            <a:r>
              <a:rPr lang="pt-BR" sz="1700" b="1">
                <a:solidFill>
                  <a:srgbClr val="8C2F39"/>
                </a:solidFill>
                <a:latin typeface="Cambria"/>
                <a:cs typeface="Cambria"/>
              </a:rPr>
              <a:t>Regressão Logística</a:t>
            </a:r>
          </a:p>
          <a:p>
            <a:pPr algn="l">
              <a:lnSpc>
                <a:spcPct val="120000"/>
              </a:lnSpc>
              <a:buNone/>
            </a:pPr>
            <a:r>
              <a:rPr lang="pt-BR" sz="1250">
                <a:solidFill>
                  <a:srgbClr val="2B2B2B"/>
                </a:solidFill>
                <a:latin typeface="Calibri"/>
                <a:cs typeface="Calibri"/>
              </a:rPr>
              <a:t>Simples e interpretável: cada coeficiente mostra o efeito de uma variável.</a:t>
            </a:r>
          </a:p>
        </p:txBody>
      </p:sp>
      <p:sp>
        <p:nvSpPr>
          <p:cNvPr id="6" name="card6"/>
          <p:cNvSpPr/>
          <p:nvPr/>
        </p:nvSpPr>
        <p:spPr>
          <a:xfrm>
            <a:off x="4402836" y="1508760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973">
            <a:solidFill>
              <a:srgbClr val="C49A3A"/>
            </a:solidFill>
          </a:ln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b7"/>
          <p:cNvSpPr>
            <a:spLocks noGrp="1"/>
          </p:cNvSpPr>
          <p:nvPr/>
        </p:nvSpPr>
        <p:spPr>
          <a:xfrm>
            <a:off x="4658868" y="1746504"/>
            <a:ext cx="2871216" cy="2240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100" b="1" spc="110">
                <a:solidFill>
                  <a:srgbClr val="C49A3A"/>
                </a:solidFill>
                <a:latin typeface="Calibri"/>
                <a:cs typeface="Calibri"/>
              </a:rPr>
              <a:t>ENSEMBLE DE ÁRVORES</a:t>
            </a:r>
          </a:p>
          <a:p>
            <a:pPr algn="l">
              <a:spcAft>
                <a:spcPts val="900"/>
              </a:spcAft>
              <a:buNone/>
            </a:pPr>
            <a:r>
              <a:rPr lang="pt-BR" sz="1700" b="1">
                <a:solidFill>
                  <a:srgbClr val="8C2F39"/>
                </a:solidFill>
                <a:latin typeface="Cambria"/>
                <a:cs typeface="Cambria"/>
              </a:rPr>
              <a:t>Random Forest</a:t>
            </a:r>
          </a:p>
          <a:p>
            <a:pPr algn="l">
              <a:lnSpc>
                <a:spcPct val="120000"/>
              </a:lnSpc>
              <a:buNone/>
            </a:pPr>
            <a:r>
              <a:rPr lang="pt-BR" sz="1250">
                <a:solidFill>
                  <a:srgbClr val="2B2B2B"/>
                </a:solidFill>
                <a:latin typeface="Calibri"/>
                <a:cs typeface="Calibri"/>
              </a:rPr>
              <a:t>Combina muitas árvores; capta relações não lineares e interações.</a:t>
            </a:r>
          </a:p>
        </p:txBody>
      </p:sp>
      <p:sp>
        <p:nvSpPr>
          <p:cNvPr id="8" name="card8"/>
          <p:cNvSpPr/>
          <p:nvPr/>
        </p:nvSpPr>
        <p:spPr>
          <a:xfrm>
            <a:off x="8165592" y="1508760"/>
            <a:ext cx="33832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70000" dist="30000" dir="5400000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b9"/>
          <p:cNvSpPr>
            <a:spLocks noGrp="1"/>
          </p:cNvSpPr>
          <p:nvPr/>
        </p:nvSpPr>
        <p:spPr>
          <a:xfrm>
            <a:off x="8421624" y="1746504"/>
            <a:ext cx="2871216" cy="22402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pt-BR" sz="1100" b="1" spc="110">
                <a:solidFill>
                  <a:srgbClr val="C49A3A"/>
                </a:solidFill>
                <a:latin typeface="Calibri"/>
                <a:cs typeface="Calibri"/>
              </a:rPr>
              <a:t>GRADIENT BOOSTING</a:t>
            </a:r>
          </a:p>
          <a:p>
            <a:pPr algn="l">
              <a:spcAft>
                <a:spcPts val="900"/>
              </a:spcAft>
              <a:buNone/>
            </a:pPr>
            <a:r>
              <a:rPr lang="pt-BR" sz="1700" b="1">
                <a:solidFill>
                  <a:srgbClr val="8C2F39"/>
                </a:solidFill>
                <a:latin typeface="Cambria"/>
                <a:cs typeface="Cambria"/>
              </a:rPr>
              <a:t>XGBoost</a:t>
            </a:r>
          </a:p>
          <a:p>
            <a:pPr algn="l">
              <a:lnSpc>
                <a:spcPct val="120000"/>
              </a:lnSpc>
              <a:buNone/>
            </a:pPr>
            <a:r>
              <a:rPr lang="pt-BR" sz="1250">
                <a:solidFill>
                  <a:srgbClr val="2B2B2B"/>
                </a:solidFill>
                <a:latin typeface="Calibri"/>
                <a:cs typeface="Calibri"/>
              </a:rPr>
              <a:t>Referência em dados tabulares; alto poder preditivo.</a:t>
            </a:r>
          </a:p>
        </p:txBody>
      </p:sp>
      <p:sp>
        <p:nvSpPr>
          <p:cNvPr id="10" name="card10"/>
          <p:cNvSpPr/>
          <p:nvPr/>
        </p:nvSpPr>
        <p:spPr>
          <a:xfrm>
            <a:off x="640080" y="4434840"/>
            <a:ext cx="10927080" cy="1783080"/>
          </a:xfrm>
          <a:prstGeom prst="roundRect">
            <a:avLst>
              <a:gd name="adj" fmla="val 8000"/>
            </a:avLst>
          </a:prstGeom>
          <a:solidFill>
            <a:srgbClr val="F6EFEA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tb11"/>
          <p:cNvSpPr>
            <a:spLocks noGrp="1"/>
          </p:cNvSpPr>
          <p:nvPr/>
        </p:nvSpPr>
        <p:spPr>
          <a:xfrm>
            <a:off x="877824" y="4617720"/>
            <a:ext cx="10451592" cy="1417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700"/>
              </a:spcAft>
              <a:buNone/>
            </a:pPr>
            <a:r>
              <a:rPr lang="pt-BR" sz="1250" b="1" spc="120">
                <a:solidFill>
                  <a:srgbClr val="C49A3A"/>
                </a:solidFill>
                <a:latin typeface="Calibri"/>
                <a:cs typeface="Calibri"/>
              </a:rPr>
              <a:t>COMO TRATAMOS O DESBALANCEAMENTO</a:t>
            </a:r>
          </a:p>
          <a:p>
            <a:pPr algn="l">
              <a:lnSpc>
                <a:spcPct val="118000"/>
              </a:lnSpc>
              <a:spcAft>
                <a:spcPts val="900"/>
              </a:spcAft>
              <a:buNone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Aprendizado sensível ao custo — </a:t>
            </a:r>
            <a:r>
              <a:rPr lang="pt-BR" sz="1350" b="1">
                <a:solidFill>
                  <a:srgbClr val="8C2F39"/>
                </a:solidFill>
                <a:latin typeface="Calibri"/>
                <a:cs typeface="Calibri"/>
              </a:rPr>
              <a:t>class_weight “balanced”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 / </a:t>
            </a:r>
            <a:r>
              <a:rPr lang="pt-BR" sz="1350" b="1">
                <a:solidFill>
                  <a:srgbClr val="8C2F39"/>
                </a:solidFill>
                <a:latin typeface="Calibri"/>
                <a:cs typeface="Calibri"/>
              </a:rPr>
              <a:t>scale_pos_weight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 — que reforça o peso da classe rara sem inventar dados.</a:t>
            </a:r>
          </a:p>
          <a:p>
            <a:pPr algn="l">
              <a:lnSpc>
                <a:spcPct val="118000"/>
              </a:lnSpc>
              <a:buNone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Escolhido após comparar com </a:t>
            </a: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SMOTE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 por validação cruzada; hiperparâmetros do Random Forest ajustados com </a:t>
            </a: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GridSearchCV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5 · AVALIAÇÃO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Comparação de desempenho</a:t>
            </a:r>
          </a:p>
        </p:txBody>
      </p:sp>
      <p:pic>
        <p:nvPicPr>
          <p:cNvPr id="4" name="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8479"/>
            <a:ext cx="7040880" cy="3595443"/>
          </a:xfrm>
          <a:prstGeom prst="rect">
            <a:avLst/>
          </a:prstGeom>
        </p:spPr>
      </p:pic>
      <p:sp>
        <p:nvSpPr>
          <p:cNvPr id="5" name="tb5"/>
          <p:cNvSpPr>
            <a:spLocks noGrp="1"/>
          </p:cNvSpPr>
          <p:nvPr/>
        </p:nvSpPr>
        <p:spPr>
          <a:xfrm>
            <a:off x="7635240" y="1463040"/>
            <a:ext cx="3931920" cy="4937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pt-BR" sz="1450" b="1">
                <a:solidFill>
                  <a:srgbClr val="8C2F39"/>
                </a:solidFill>
                <a:latin typeface="Calibri"/>
                <a:cs typeface="Calibri"/>
              </a:rPr>
              <a:t>Por que não a acurácia?</a:t>
            </a:r>
          </a:p>
          <a:p>
            <a:pPr algn="l">
              <a:lnSpc>
                <a:spcPct val="116000"/>
              </a:lnSpc>
              <a:spcAft>
                <a:spcPts val="1300"/>
              </a:spcAft>
              <a:buNone/>
            </a:pP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Sob desbalanceamento ela engana; priorizamos F1, ROC-AUC e PR-AUC.</a:t>
            </a:r>
          </a:p>
          <a:p>
            <a:pPr marL="292608" indent="-292608" algn="l">
              <a:lnSpc>
                <a:spcPct val="115000"/>
              </a:lnSpc>
              <a:spcAft>
                <a:spcPts val="9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Random Forest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: melhor equilíbrio (F1 0,63; acurácia 90%).</a:t>
            </a:r>
          </a:p>
          <a:p>
            <a:pPr marL="292608" indent="-292608" algn="l">
              <a:lnSpc>
                <a:spcPct val="115000"/>
              </a:lnSpc>
              <a:spcAft>
                <a:spcPts val="9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RF ajustado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: melhor ranqueamento (PR-AUC 0,71; ROC-AUC 0,91).</a:t>
            </a:r>
          </a:p>
          <a:p>
            <a:pPr marL="292608" indent="-292608" algn="l">
              <a:lnSpc>
                <a:spcPct val="115000"/>
              </a:lnSpc>
              <a:buClr>
                <a:srgbClr val="8C2F39"/>
              </a:buClr>
              <a:buFont typeface="Arial"/>
              <a:buChar char="•"/>
            </a:pPr>
            <a:r>
              <a:rPr lang="pt-BR" sz="1350" b="1">
                <a:solidFill>
                  <a:srgbClr val="2B2B2B"/>
                </a:solidFill>
                <a:latin typeface="Calibri"/>
                <a:cs typeface="Calibri"/>
              </a:rPr>
              <a:t>Regressão Logística</a:t>
            </a:r>
            <a:r>
              <a:rPr lang="pt-BR" sz="1350">
                <a:solidFill>
                  <a:srgbClr val="2B2B2B"/>
                </a:solidFill>
                <a:latin typeface="Calibri"/>
                <a:cs typeface="Calibri"/>
              </a:rPr>
              <a:t>: maior recall (0,78), mas baixa precisão.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5 · AVALIAÇÃO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O melhor modelo em detalhe</a:t>
            </a:r>
          </a:p>
        </p:txBody>
      </p:sp>
      <p:pic>
        <p:nvPicPr>
          <p:cNvPr id="4" name="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109" y="1645920"/>
            <a:ext cx="4596903" cy="4526280"/>
          </a:xfrm>
          <a:prstGeom prst="rect">
            <a:avLst/>
          </a:prstGeom>
        </p:spPr>
      </p:pic>
      <p:sp>
        <p:nvSpPr>
          <p:cNvPr id="5" name="tb5"/>
          <p:cNvSpPr>
            <a:spLocks noGrp="1"/>
          </p:cNvSpPr>
          <p:nvPr/>
        </p:nvSpPr>
        <p:spPr>
          <a:xfrm>
            <a:off x="6400800" y="1508760"/>
            <a:ext cx="5120640" cy="4937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  <a:buNone/>
            </a:pPr>
            <a:r>
              <a:rPr lang="pt-BR" sz="1400" b="1">
                <a:solidFill>
                  <a:srgbClr val="2B2B2B"/>
                </a:solidFill>
                <a:latin typeface="Calibri"/>
                <a:cs typeface="Calibri"/>
              </a:rPr>
              <a:t>Como ler: 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linha = classe real; coluna = o que o modelo previu.</a:t>
            </a:r>
          </a:p>
          <a:p>
            <a:pPr marL="292608" indent="-292608" algn="l">
              <a:lnSpc>
                <a:spcPct val="116000"/>
              </a:lnSpc>
              <a:spcAft>
                <a:spcPts val="9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Dos 27 vinhos de alta qualidade do teste, o Random Forest acerta </a:t>
            </a: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17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 (recall 63%).</a:t>
            </a:r>
          </a:p>
          <a:p>
            <a:pPr marL="292608" indent="-292608" algn="l">
              <a:lnSpc>
                <a:spcPct val="116000"/>
              </a:lnSpc>
              <a:spcAft>
                <a:spcPts val="9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Erros equilibrados: 10 falsos positivos e 10 falsos negativos.</a:t>
            </a:r>
          </a:p>
          <a:p>
            <a:pPr marL="292608" indent="-292608" algn="l">
              <a:lnSpc>
                <a:spcPct val="116000"/>
              </a:lnSpc>
              <a:buClr>
                <a:srgbClr val="8C2F39"/>
              </a:buClr>
              <a:buFont typeface="Arial"/>
              <a:buChar char="•"/>
            </a:pP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Ajuste de limiar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: alavanca de negócio para achar mais vinhos bons (↑recall) ou errar menos alarmes (↑precisão) — calibrado sem tocar no teste.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>
            <a:spLocks noGrp="1"/>
          </p:cNvSpPr>
          <p:nvPr/>
        </p:nvSpPr>
        <p:spPr>
          <a:xfrm>
            <a:off x="658368" y="310896"/>
            <a:ext cx="10881360" cy="3474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150" b="1" spc="220">
                <a:solidFill>
                  <a:srgbClr val="C49A3A"/>
                </a:solidFill>
                <a:latin typeface="Calibri"/>
                <a:cs typeface="Calibri"/>
              </a:rPr>
              <a:t>ETAPA 6 · INTERPRETAÇÃO</a:t>
            </a:r>
          </a:p>
        </p:txBody>
      </p:sp>
      <p:sp>
        <p:nvSpPr>
          <p:cNvPr id="3" name="tb3"/>
          <p:cNvSpPr>
            <a:spLocks noGrp="1"/>
          </p:cNvSpPr>
          <p:nvPr/>
        </p:nvSpPr>
        <p:spPr>
          <a:xfrm>
            <a:off x="640080" y="603504"/>
            <a:ext cx="1088136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700" b="1">
                <a:solidFill>
                  <a:srgbClr val="8C2F39"/>
                </a:solidFill>
                <a:latin typeface="Cambria"/>
                <a:cs typeface="Cambria"/>
              </a:rPr>
              <a:t>O que influencia a qualidade</a:t>
            </a:r>
          </a:p>
        </p:txBody>
      </p:sp>
      <p:pic>
        <p:nvPicPr>
          <p:cNvPr id="4" name="img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81169"/>
            <a:ext cx="6766560" cy="4055782"/>
          </a:xfrm>
          <a:prstGeom prst="rect">
            <a:avLst/>
          </a:prstGeom>
        </p:spPr>
      </p:pic>
      <p:sp>
        <p:nvSpPr>
          <p:cNvPr id="5" name="tb5"/>
          <p:cNvSpPr>
            <a:spLocks noGrp="1"/>
          </p:cNvSpPr>
          <p:nvPr/>
        </p:nvSpPr>
        <p:spPr>
          <a:xfrm>
            <a:off x="7406640" y="1463040"/>
            <a:ext cx="4160520" cy="502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92608" indent="-292608" algn="l">
              <a:lnSpc>
                <a:spcPct val="116000"/>
              </a:lnSpc>
              <a:spcAft>
                <a:spcPts val="10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Álcool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 é a variável mais influente; </a:t>
            </a: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sulfatos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 e </a:t>
            </a: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ácido cítrico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 também elevam a qualidade.</a:t>
            </a:r>
          </a:p>
          <a:p>
            <a:pPr marL="292608" indent="-292608" algn="l">
              <a:lnSpc>
                <a:spcPct val="116000"/>
              </a:lnSpc>
              <a:spcAft>
                <a:spcPts val="10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400" b="1">
                <a:solidFill>
                  <a:srgbClr val="8C2F39"/>
                </a:solidFill>
                <a:latin typeface="Calibri"/>
                <a:cs typeface="Calibri"/>
              </a:rPr>
              <a:t>Acidez volátil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 derruba a nota (aroma avinagrado).</a:t>
            </a:r>
          </a:p>
          <a:p>
            <a:pPr marL="292608" indent="-292608" algn="l">
              <a:lnSpc>
                <a:spcPct val="116000"/>
              </a:lnSpc>
              <a:spcAft>
                <a:spcPts val="1000"/>
              </a:spcAft>
              <a:buClr>
                <a:srgbClr val="8C2F39"/>
              </a:buClr>
              <a:buFont typeface="Arial"/>
              <a:buChar char="•"/>
            </a:pPr>
            <a:r>
              <a:rPr lang="pt-BR" sz="1400" b="1">
                <a:solidFill>
                  <a:srgbClr val="2B2B2B"/>
                </a:solidFill>
                <a:latin typeface="Calibri"/>
                <a:cs typeface="Calibri"/>
              </a:rPr>
              <a:t>Feature engineering validada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: as variáveis criadas alcohol_sulphates (2ª) e fixed_volatile_ratio (4ª) aparecem no top 4 (em dourado).</a:t>
            </a:r>
          </a:p>
          <a:p>
            <a:pPr marL="292608" indent="-292608" algn="l">
              <a:lnSpc>
                <a:spcPct val="116000"/>
              </a:lnSpc>
              <a:buClr>
                <a:srgbClr val="8C2F39"/>
              </a:buClr>
              <a:buFont typeface="Arial"/>
              <a:buChar char="•"/>
            </a:pPr>
            <a:r>
              <a:rPr lang="pt-BR" sz="1400" b="1">
                <a:solidFill>
                  <a:srgbClr val="2B2B2B"/>
                </a:solidFill>
                <a:latin typeface="Calibri"/>
                <a:cs typeface="Calibri"/>
              </a:rPr>
              <a:t>Implicação de produção</a:t>
            </a:r>
            <a:r>
              <a:rPr lang="pt-BR" sz="1400">
                <a:solidFill>
                  <a:srgbClr val="2B2B2B"/>
                </a:solidFill>
                <a:latin typeface="Calibri"/>
                <a:cs typeface="Calibri"/>
              </a:rPr>
              <a:t>: monitorar álcool, sulfatos e acidez volátil no controle de qualidade.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1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2"/>
          <p:cNvSpPr/>
          <p:nvPr/>
        </p:nvSpPr>
        <p:spPr>
          <a:xfrm>
            <a:off x="9784080" y="-1234440"/>
            <a:ext cx="3840480" cy="3840480"/>
          </a:xfrm>
          <a:prstGeom prst="ellipse">
            <a:avLst/>
          </a:prstGeom>
          <a:solidFill>
            <a:srgbClr val="C49A3A">
              <a:alpha val="13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ov3"/>
          <p:cNvSpPr/>
          <p:nvPr/>
        </p:nvSpPr>
        <p:spPr>
          <a:xfrm>
            <a:off x="10698480" y="4480560"/>
            <a:ext cx="3291840" cy="3291840"/>
          </a:xfrm>
          <a:prstGeom prst="ellipse">
            <a:avLst/>
          </a:prstGeom>
          <a:solidFill>
            <a:srgbClr val="A24A54">
              <a:alpha val="22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tb4"/>
          <p:cNvSpPr>
            <a:spLocks noGrp="1"/>
          </p:cNvSpPr>
          <p:nvPr/>
        </p:nvSpPr>
        <p:spPr>
          <a:xfrm>
            <a:off x="822960" y="457200"/>
            <a:ext cx="10607040" cy="8686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2800" b="1">
                <a:solidFill>
                  <a:srgbClr val="FFFFFF"/>
                </a:solidFill>
                <a:latin typeface="Cambria"/>
                <a:cs typeface="Cambria"/>
              </a:rPr>
              <a:t>Conclusões e implicações</a:t>
            </a:r>
          </a:p>
        </p:txBody>
      </p:sp>
      <p:sp>
        <p:nvSpPr>
          <p:cNvPr id="5" name="tb5"/>
          <p:cNvSpPr>
            <a:spLocks noGrp="1"/>
          </p:cNvSpPr>
          <p:nvPr/>
        </p:nvSpPr>
        <p:spPr>
          <a:xfrm>
            <a:off x="822960" y="1371600"/>
            <a:ext cx="10607040" cy="46634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92608" indent="-292608" algn="l">
              <a:lnSpc>
                <a:spcPct val="112000"/>
              </a:lnSpc>
              <a:spcAft>
                <a:spcPts val="900"/>
              </a:spcAft>
              <a:buClr>
                <a:srgbClr val="C49A3A"/>
              </a:buClr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Pipeline completo</a:t>
            </a:r>
            <a:r>
              <a:rPr lang="pt-BR" sz="1600">
                <a:solidFill>
                  <a:srgbClr val="FFFFFF"/>
                </a:solidFill>
                <a:latin typeface="Calibri"/>
                <a:cs typeface="Calibri"/>
              </a:rPr>
              <a:t> nas 6 etapas: do problema à interpretação, com narrativa orientada a dados.</a:t>
            </a:r>
          </a:p>
          <a:p>
            <a:pPr marL="292608" indent="-292608" algn="l">
              <a:lnSpc>
                <a:spcPct val="112000"/>
              </a:lnSpc>
              <a:spcAft>
                <a:spcPts val="900"/>
              </a:spcAft>
              <a:buClr>
                <a:srgbClr val="C49A3A"/>
              </a:buClr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Melhor modelo: Random Forest</a:t>
            </a:r>
            <a:r>
              <a:rPr lang="pt-BR" sz="1600">
                <a:solidFill>
                  <a:srgbClr val="FFFFFF"/>
                </a:solidFill>
                <a:latin typeface="Calibri"/>
                <a:cs typeface="Calibri"/>
              </a:rPr>
              <a:t> — F1 0,63 · ROC-AUC 0,91 · acurácia 90%.</a:t>
            </a:r>
          </a:p>
          <a:p>
            <a:pPr marL="292608" indent="-292608" algn="l">
              <a:lnSpc>
                <a:spcPct val="112000"/>
              </a:lnSpc>
              <a:spcAft>
                <a:spcPts val="900"/>
              </a:spcAft>
              <a:buClr>
                <a:srgbClr val="C49A3A"/>
              </a:buClr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Direcionadores da qualidade:</a:t>
            </a:r>
            <a:r>
              <a:rPr lang="pt-BR" sz="1600">
                <a:solidFill>
                  <a:srgbClr val="FFFFFF"/>
                </a:solidFill>
                <a:latin typeface="Calibri"/>
                <a:cs typeface="Calibri"/>
              </a:rPr>
              <a:t> álcool, sulfatos e ácido cítrico elevam; acidez volátil reduz.</a:t>
            </a:r>
          </a:p>
          <a:p>
            <a:pPr marL="292608" indent="-292608" algn="l">
              <a:lnSpc>
                <a:spcPct val="112000"/>
              </a:lnSpc>
              <a:spcAft>
                <a:spcPts val="900"/>
              </a:spcAft>
              <a:buClr>
                <a:srgbClr val="C49A3A"/>
              </a:buClr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Feature engineering enológica</a:t>
            </a:r>
            <a:r>
              <a:rPr lang="pt-BR" sz="1600">
                <a:solidFill>
                  <a:srgbClr val="FFFFFF"/>
                </a:solidFill>
                <a:latin typeface="Calibri"/>
                <a:cs typeface="Calibri"/>
              </a:rPr>
              <a:t> entrou no top 4 de importância — conhecimento de domínio agregou valor.</a:t>
            </a:r>
          </a:p>
          <a:p>
            <a:pPr marL="292608" indent="-292608" algn="l">
              <a:lnSpc>
                <a:spcPct val="112000"/>
              </a:lnSpc>
              <a:spcAft>
                <a:spcPts val="900"/>
              </a:spcAft>
              <a:buClr>
                <a:srgbClr val="C49A3A"/>
              </a:buClr>
              <a:buFont typeface="Arial"/>
              <a:buChar char="•"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Rigor metodológico:</a:t>
            </a:r>
            <a:r>
              <a:rPr lang="pt-BR" sz="1600">
                <a:solidFill>
                  <a:srgbClr val="FFFFFF"/>
                </a:solidFill>
                <a:latin typeface="Calibri"/>
                <a:cs typeface="Calibri"/>
              </a:rPr>
              <a:t> sem vazamento (dedup antes do split; ajustes só no treino) e métricas honestas sob desbalanceamento.</a:t>
            </a:r>
          </a:p>
          <a:p>
            <a:pPr marL="292608" indent="-292608" algn="l">
              <a:lnSpc>
                <a:spcPct val="112000"/>
              </a:lnSpc>
              <a:buClr>
                <a:srgbClr val="C49A3A"/>
              </a:buClr>
              <a:buFont typeface="Arial"/>
              <a:buChar char="•"/>
            </a:pPr>
            <a:r>
              <a:rPr lang="pt-BR" sz="1600" b="1">
                <a:solidFill>
                  <a:srgbClr val="C49A3A"/>
                </a:solidFill>
                <a:latin typeface="Calibri"/>
                <a:cs typeface="Calibri"/>
              </a:rPr>
              <a:t>Implicação de produção:</a:t>
            </a:r>
            <a:r>
              <a:rPr lang="pt-BR" sz="1600">
                <a:solidFill>
                  <a:srgbClr val="FFFFFF"/>
                </a:solidFill>
                <a:latin typeface="Calibri"/>
                <a:cs typeface="Calibri"/>
              </a:rPr>
              <a:t> sinalizar amostras promissoras e monitorar os fatores-chave; limiar ajustável conforme o custo de errar.</a:t>
            </a:r>
          </a:p>
        </p:txBody>
      </p:sp>
      <p:sp>
        <p:nvSpPr>
          <p:cNvPr id="6" name="tb6"/>
          <p:cNvSpPr>
            <a:spLocks noGrp="1"/>
          </p:cNvSpPr>
          <p:nvPr/>
        </p:nvSpPr>
        <p:spPr>
          <a:xfrm>
            <a:off x="822960" y="6263640"/>
            <a:ext cx="1060704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buNone/>
            </a:pPr>
            <a:r>
              <a:rPr lang="pt-BR" sz="1200">
                <a:solidFill>
                  <a:srgbClr val="D8C7B8"/>
                </a:solidFill>
                <a:latin typeface="Calibri"/>
                <a:cs typeface="Calibri"/>
              </a:rPr>
              <a:t>FIAP · POSTECH — Tech Challenge Fase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e">
  <a:themeElements>
    <a:clrScheme name="Wine">
      <a:dk1>
        <a:sysClr val="windowText" lastClr="000000"/>
      </a:dk1>
      <a:lt1>
        <a:sysClr val="window" lastClr="FFFFFF"/>
      </a:lt1>
      <a:dk2>
        <a:srgbClr val="5A1F28"/>
      </a:dk2>
      <a:lt2>
        <a:srgbClr val="F4ECE2"/>
      </a:lt2>
      <a:accent1>
        <a:srgbClr val="8C2F39"/>
      </a:accent1>
      <a:accent2>
        <a:srgbClr val="C49A3A"/>
      </a:accent2>
      <a:accent3>
        <a:srgbClr val="5E7386"/>
      </a:accent3>
      <a:accent4>
        <a:srgbClr val="C9A9A6"/>
      </a:accent4>
      <a:accent5>
        <a:srgbClr val="A24A54"/>
      </a:accent5>
      <a:accent6>
        <a:srgbClr val="7A5C3E"/>
      </a:accent6>
      <a:hlink>
        <a:srgbClr val="8C2F39"/>
      </a:hlink>
      <a:folHlink>
        <a:srgbClr val="5E7386"/>
      </a:folHlink>
    </a:clrScheme>
    <a:fontScheme name="Win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7000"/>
          </a:schemeClr>
        </a:solidFill>
        <a:solidFill>
          <a:schemeClr val="phClr">
            <a:tint val="73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OOXML</Application>
  <Slides>13</Slides>
  <Company>FIAP POSTECH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Qualidade de Vinhos — Análise e Modelagem</dc:title>
  <dc:creator>FIAP POSTECH</dc:creator>
  <cp:lastModifiedBy>FIAP POSTECH</cp:lastModifiedBy>
</cp:coreProperties>
</file>